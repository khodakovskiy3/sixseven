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F642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FBF1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КУРСОВОГО ПРОЄКТУ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OLIMP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841248" y="3246120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FF642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Автоматизована система управління спортивним клубом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тренуваннями, розкладом та членством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ЗАКЛАД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5046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НТУУ «КПІ ім. Ігоря Сікорського»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Інститут спеціального зв'язку та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захисту інформації, кафедра №5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0" y="5212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ДИСЦИПЛІНА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0" y="55046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Технології розробки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програмного забезпечення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С-35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0" y="5212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ВИКОНАВЦІ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55046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Ходаковський Р.О.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Пашиніна Я.А.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 ·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проєкту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 «СИКСЕВЕН» · розробник · ітеративний цикл + Scrum, спринти 2 тижні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E1D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313432"/>
            <a:ext cx="566928" cy="566928"/>
          </a:xfrm>
          <a:prstGeom prst="ellipse">
            <a:avLst/>
          </a:prstGeom>
          <a:solidFill>
            <a:srgbClr val="FF6424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Ходаковський Р.О.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31089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 проєкту / Scrum Master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E1D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2313432"/>
            <a:ext cx="566928" cy="566928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Пашиніна Я.А.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0872" y="31089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Системний аналітик / Product Owner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E1D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2313432"/>
            <a:ext cx="566928" cy="566928"/>
          </a:xfrm>
          <a:prstGeom prst="ellipse">
            <a:avLst/>
          </a:prstGeom>
          <a:solidFill>
            <a:srgbClr val="FF6424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52560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Павловський В.В.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31089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 ПЗ (Frontend)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E1D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78992" y="4416552"/>
            <a:ext cx="566928" cy="566928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4416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4434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Стельмах М.В.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52120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 ПЗ (Backend)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416052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E1D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4416552"/>
            <a:ext cx="566928" cy="566928"/>
          </a:xfrm>
          <a:prstGeom prst="ellipse">
            <a:avLst/>
          </a:prstGeom>
          <a:solidFill>
            <a:srgbClr val="FF6424"/>
          </a:solidFill>
          <a:ln/>
        </p:spPr>
      </p:sp>
      <p:sp>
        <p:nvSpPr>
          <p:cNvPr id="27" name="Text 25"/>
          <p:cNvSpPr/>
          <p:nvPr/>
        </p:nvSpPr>
        <p:spPr>
          <a:xfrm>
            <a:off x="4690872" y="4416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4434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Федорівський І.В.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90872" y="52120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Тестувальник ПЗ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16052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E1D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4416552"/>
            <a:ext cx="566928" cy="566928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32" name="Text 30"/>
          <p:cNvSpPr/>
          <p:nvPr/>
        </p:nvSpPr>
        <p:spPr>
          <a:xfrm>
            <a:off x="8302752" y="4416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Є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52560" y="4434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Галун Є.А.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02752" y="52120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Тестувальник ПЗ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та актуальність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 клубом вручну та у розрізнених таблицях призводить до втрати даних, накладок у розкладі й відсутності аналітики для керівництва. Наявні застосунки — десктопні, без крос-платформного мобільного доступу.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319272" cy="2377440"/>
          </a:xfrm>
          <a:prstGeom prst="roundRect">
            <a:avLst>
              <a:gd name="adj" fmla="val 4615"/>
            </a:avLst>
          </a:prstGeom>
          <a:solidFill>
            <a:srgbClr val="1E1D2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централізованої бази даних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клієнтів і тренерів розпорошені між таблицями та паперовими журналами — записи губляться й дублюються.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6552" y="2331720"/>
            <a:ext cx="3319272" cy="2377440"/>
          </a:xfrm>
          <a:prstGeom prst="roundRect">
            <a:avLst>
              <a:gd name="adj" fmla="val 4615"/>
            </a:avLst>
          </a:prstGeom>
          <a:solidFill>
            <a:srgbClr val="1E1D23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90872" y="320040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 та накладки у розкладі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90872" y="384048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Ручне складання розкладу тренувань спричиняє подвійні бронювання й конфлікти залу/тренера.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2331720"/>
            <a:ext cx="3319272" cy="2377440"/>
          </a:xfrm>
          <a:prstGeom prst="roundRect">
            <a:avLst>
              <a:gd name="adj" fmla="val 4615"/>
            </a:avLst>
          </a:prstGeom>
          <a:solidFill>
            <a:srgbClr val="1E1D23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84464" y="320040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оперативної аналітики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84464" y="384048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Керівництво не має інструменту для миттєвого перегляду відвідуваності, завантаженості й фінансових показників.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26242C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230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Рішення: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51663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PWA-платформа з централізованою PostgreSQL-базою, онлайн-бронюванням і аналітикою — обрана замість десктопного застосунку, таблиць чи стороннього SaaS через крос-платформну мобільність і локальне зберігання даних клубу.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СПЕЦИФІКАЦІЯ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Вимоги до системи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логічних підсистем · 3-рівнева клієнт-серверна архітектура (ТЗ SIXSEVEN-2026.001)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1E1D23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350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ПРОДУКТИВНІСТЬ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24128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24128" y="324612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відгук сервера, максимум 5с; ≥ 50 паралельних сесій, ≥ 10 000 записів клієнтів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FF6424"/>
          </a:solidFill>
          <a:ln/>
        </p:spPr>
      </p:sp>
      <p:sp>
        <p:nvSpPr>
          <p:cNvPr id="10" name="Text 8"/>
          <p:cNvSpPr/>
          <p:nvPr/>
        </p:nvSpPr>
        <p:spPr>
          <a:xfrm>
            <a:off x="3721608" y="2350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21608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21608" y="324612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обов'язкова для адміністратора й менеджера; bcrypt-хешування, JWT-автентифікація, RBAC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1E1D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2350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СУМІСНІСТЬ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браузери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19088" y="324612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Firefox, Safari; встановлення як PWA на Windows, Android, iOS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214884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1E1D23"/>
          </a:solidFill>
          <a:ln/>
        </p:spPr>
      </p:sp>
      <p:sp>
        <p:nvSpPr>
          <p:cNvPr id="18" name="Text 16"/>
          <p:cNvSpPr/>
          <p:nvPr/>
        </p:nvSpPr>
        <p:spPr>
          <a:xfrm>
            <a:off x="9116568" y="2350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НАДІЙНІСТЬ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6568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Транзакції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16568" y="324612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атомарні операції з абонементами; заборона дублікатів активних бронювань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526280"/>
            <a:ext cx="10515600" cy="1508760"/>
          </a:xfrm>
          <a:prstGeom prst="roundRect">
            <a:avLst>
              <a:gd name="adj" fmla="val 7273"/>
            </a:avLst>
          </a:prstGeom>
          <a:solidFill>
            <a:srgbClr val="26242C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МІНІМАЛЬНІ ВИМОГИ ДО СЕРВЕРА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4-ядерний 64-біт CPU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ГБ RAM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7220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ГБ SSD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локальний хост, без хмари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Користувачі системи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ролей із розмежуванням прав доступу (RBAC)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1E1D23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911096"/>
            <a:ext cx="493776" cy="493776"/>
          </a:xfrm>
          <a:prstGeom prst="ellipse">
            <a:avLst/>
          </a:prstGeom>
          <a:solidFill>
            <a:srgbClr val="FF6424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1911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Публічна інформація про клуб, чат зі студією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0" y="18745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624328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1E1D2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" y="2752344"/>
            <a:ext cx="493776" cy="493776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33272" y="2752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2715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71576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Бронювання занять, перегляд абонементу, антропометрія, AI-асистент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0" y="271576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465576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1E1D2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3272" y="3593592"/>
            <a:ext cx="493776" cy="493776"/>
          </a:xfrm>
          <a:prstGeom prst="ellipse">
            <a:avLst/>
          </a:prstGeom>
          <a:solidFill>
            <a:srgbClr val="FF6424"/>
          </a:solidFill>
          <a:ln/>
        </p:spPr>
      </p:sp>
      <p:sp>
        <p:nvSpPr>
          <p:cNvPr id="19" name="Text 17"/>
          <p:cNvSpPr/>
          <p:nvPr/>
        </p:nvSpPr>
        <p:spPr>
          <a:xfrm>
            <a:off x="1033272" y="35935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35570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Тренер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557016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 розклад, нотатки про клієнтів — без прав на розклад/тарифи/ролі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66960" y="35570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4306824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1E1D2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3272" y="4434840"/>
            <a:ext cx="493776" cy="493776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" y="4434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83080" y="43982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Адміністратор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4398264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операційний контроль, окрім керування ролями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0" y="439826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5148072"/>
            <a:ext cx="10515600" cy="749808"/>
          </a:xfrm>
          <a:prstGeom prst="roundRect">
            <a:avLst>
              <a:gd name="adj" fmla="val 12195"/>
            </a:avLst>
          </a:prstGeom>
          <a:solidFill>
            <a:srgbClr val="1E1D2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3272" y="5276088"/>
            <a:ext cx="493776" cy="493776"/>
          </a:xfrm>
          <a:prstGeom prst="ellipse">
            <a:avLst/>
          </a:prstGeom>
          <a:solidFill>
            <a:srgbClr val="FF6424"/>
          </a:solidFill>
          <a:ln/>
        </p:spPr>
      </p:sp>
      <p:sp>
        <p:nvSpPr>
          <p:cNvPr id="31" name="Text 29"/>
          <p:cNvSpPr/>
          <p:nvPr/>
        </p:nvSpPr>
        <p:spPr>
          <a:xfrm>
            <a:off x="1033272" y="5276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83080" y="52395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/ керівник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0" y="523951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 ролями, аналітика; без доступу до розкладу й тарифів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66960" y="5239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Основні функції системи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0" y="1892808"/>
            <a:ext cx="0" cy="1115568"/>
          </a:xfrm>
          <a:prstGeom prst="line">
            <a:avLst/>
          </a:prstGeom>
          <a:noFill/>
          <a:ln w="12700">
            <a:solidFill>
              <a:srgbClr val="353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Гостьовий портал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874520" y="222199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Публічна інформація про клуб, реєстрація з підтвердженням через 2FA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086600" y="1892808"/>
            <a:ext cx="0" cy="1115568"/>
          </a:xfrm>
          <a:prstGeom prst="line">
            <a:avLst/>
          </a:prstGeom>
          <a:noFill/>
          <a:ln w="12700">
            <a:solidFill>
              <a:srgbClr val="353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Кабінет клієнта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0" y="222199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Онлайн-бронювання занять, перегляд абонементу, антропометрія, AI-асистент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645920" y="3447288"/>
            <a:ext cx="0" cy="1115568"/>
          </a:xfrm>
          <a:prstGeom prst="line">
            <a:avLst/>
          </a:prstGeom>
          <a:noFill/>
          <a:ln w="12700">
            <a:solidFill>
              <a:srgbClr val="353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Кабінет тренера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874520" y="377647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Особистий розклад, нотатки про клієнтів, історія відвідувань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333756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086600" y="3447288"/>
            <a:ext cx="0" cy="1115568"/>
          </a:xfrm>
          <a:prstGeom prst="line">
            <a:avLst/>
          </a:prstGeom>
          <a:noFill/>
          <a:ln w="12700">
            <a:solidFill>
              <a:srgbClr val="353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Адміністративна підсистема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0" y="377647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Видача абонементів, ведення розкладу, картки клієнтів і тренерів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645920" y="5001768"/>
            <a:ext cx="0" cy="1115568"/>
          </a:xfrm>
          <a:prstGeom prst="line">
            <a:avLst/>
          </a:prstGeom>
          <a:noFill/>
          <a:ln w="12700">
            <a:solidFill>
              <a:srgbClr val="3533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Підсистема менеджера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874520" y="533095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 ролями персоналу, аналітика та PDF-звіти для керівництва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489204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7086600" y="5001768"/>
            <a:ext cx="0" cy="1115568"/>
          </a:xfrm>
          <a:prstGeom prst="line">
            <a:avLst/>
          </a:prstGeom>
          <a:noFill/>
          <a:ln w="12700">
            <a:solidFill>
              <a:srgbClr val="3533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Чат, push-сповіщення й AI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0" y="533095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Внутрішній месенджер із типовими сповіщеннями, локальний AI-асистент (Ollama)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Вимоги до якості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468880" cy="1965960"/>
          </a:xfrm>
          <a:prstGeom prst="roundRect">
            <a:avLst>
              <a:gd name="adj" fmla="val 5581"/>
            </a:avLst>
          </a:prstGeom>
          <a:solidFill>
            <a:srgbClr val="1E1D23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984248"/>
            <a:ext cx="1426464" cy="1426464"/>
          </a:xfrm>
          <a:prstGeom prst="ellipse">
            <a:avLst/>
          </a:prstGeom>
          <a:ln w="63500">
            <a:solidFill>
              <a:srgbClr val="FF64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98424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ПРОДУКТИВНІСТЬ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1783080"/>
            <a:ext cx="2468880" cy="1965960"/>
          </a:xfrm>
          <a:prstGeom prst="roundRect">
            <a:avLst>
              <a:gd name="adj" fmla="val 5581"/>
            </a:avLst>
          </a:prstGeom>
          <a:solidFill>
            <a:srgbClr val="1E1D23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1984248"/>
            <a:ext cx="1426464" cy="1426464"/>
          </a:xfrm>
          <a:prstGeom prst="ellipse">
            <a:avLst/>
          </a:prstGeom>
          <a:ln w="63500">
            <a:solidFill>
              <a:srgbClr val="FFB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198424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хв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ЮЗАБІЛІТІ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2468880" cy="1965960"/>
          </a:xfrm>
          <a:prstGeom prst="roundRect">
            <a:avLst>
              <a:gd name="adj" fmla="val 5581"/>
            </a:avLst>
          </a:prstGeom>
          <a:solidFill>
            <a:srgbClr val="1E1D23"/>
          </a:solidFill>
          <a:ln/>
        </p:spPr>
      </p:sp>
      <p:sp>
        <p:nvSpPr>
          <p:cNvPr id="13" name="Shape 11"/>
          <p:cNvSpPr/>
          <p:nvPr/>
        </p:nvSpPr>
        <p:spPr>
          <a:xfrm>
            <a:off x="6922008" y="1984248"/>
            <a:ext cx="1426464" cy="1426464"/>
          </a:xfrm>
          <a:prstGeom prst="ellipse">
            <a:avLst/>
          </a:prstGeom>
          <a:ln w="63500">
            <a:solidFill>
              <a:srgbClr val="FFBF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198424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4.5:1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ДОСТУПНІСТЬ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10515600" cy="2057400"/>
          </a:xfrm>
          <a:prstGeom prst="roundRect">
            <a:avLst>
              <a:gd name="adj" fmla="val 5333"/>
            </a:avLst>
          </a:prstGeom>
          <a:solidFill>
            <a:srgbClr val="26242C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· bcrypt · JWT · RBAC · журнал дій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РЕЗЕРВНЕ КОПІЮВАННЯ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автоматичний pg_dump щодня · зберігання 30 днів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НАДІЙНІСТЬ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транзакційні операції, без дублювання бронювань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 системи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3-рівнева клієнт-серверна архітектура, Docker Compose, локальний виділений хост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169920" cy="1051560"/>
          </a:xfrm>
          <a:prstGeom prst="roundRect">
            <a:avLst>
              <a:gd name="adj" fmla="val 10435"/>
            </a:avLst>
          </a:prstGeom>
          <a:solidFill>
            <a:srgbClr val="1E1D2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488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PWA-клієнт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542032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Electron desktop)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47744" y="2418588"/>
            <a:ext cx="393192" cy="237744"/>
          </a:xfrm>
          <a:prstGeom prst="rightArrow">
            <a:avLst/>
          </a:prstGeom>
          <a:solidFill>
            <a:srgbClr val="35333C"/>
          </a:solidFill>
          <a:ln/>
        </p:spPr>
      </p:sp>
      <p:sp>
        <p:nvSpPr>
          <p:cNvPr id="9" name="Shape 7"/>
          <p:cNvSpPr/>
          <p:nvPr/>
        </p:nvSpPr>
        <p:spPr>
          <a:xfrm>
            <a:off x="4495800" y="2011680"/>
            <a:ext cx="3169920" cy="1051560"/>
          </a:xfrm>
          <a:prstGeom prst="roundRect">
            <a:avLst>
              <a:gd name="adj" fmla="val 10435"/>
            </a:avLst>
          </a:prstGeom>
          <a:solidFill>
            <a:srgbClr val="FF6424"/>
          </a:solidFill>
          <a:ln/>
        </p:spPr>
      </p:sp>
      <p:sp>
        <p:nvSpPr>
          <p:cNvPr id="10" name="Text 8"/>
          <p:cNvSpPr/>
          <p:nvPr/>
        </p:nvSpPr>
        <p:spPr>
          <a:xfrm>
            <a:off x="4724400" y="21488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4400" y="2542032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сервер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20584" y="2418588"/>
            <a:ext cx="393192" cy="237744"/>
          </a:xfrm>
          <a:prstGeom prst="rightArrow">
            <a:avLst/>
          </a:prstGeom>
          <a:solidFill>
            <a:srgbClr val="353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68640" y="2011680"/>
            <a:ext cx="3169920" cy="1051560"/>
          </a:xfrm>
          <a:prstGeom prst="roundRect">
            <a:avLst>
              <a:gd name="adj" fmla="val 10435"/>
            </a:avLst>
          </a:prstGeom>
          <a:solidFill>
            <a:srgbClr val="1E1D23"/>
          </a:solidFill>
          <a:ln/>
        </p:spPr>
      </p:sp>
      <p:sp>
        <p:nvSpPr>
          <p:cNvPr id="14" name="Text 12"/>
          <p:cNvSpPr/>
          <p:nvPr/>
        </p:nvSpPr>
        <p:spPr>
          <a:xfrm>
            <a:off x="8397240" y="21488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7240" y="2542032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таблиця, 3НФ, FK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95800" y="3566160"/>
            <a:ext cx="3169920" cy="777240"/>
          </a:xfrm>
          <a:prstGeom prst="roundRect">
            <a:avLst>
              <a:gd name="adj" fmla="val 14118"/>
            </a:avLst>
          </a:prstGeom>
          <a:solidFill>
            <a:srgbClr val="26242C"/>
          </a:solidFill>
          <a:ln w="15875">
            <a:solidFill>
              <a:srgbClr val="FFBF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8680" y="3657600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qwen3:8b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78680" y="3977640"/>
            <a:ext cx="280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AI-асистент, без хмари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3063240"/>
            <a:ext cx="0" cy="502920"/>
          </a:xfrm>
          <a:prstGeom prst="line">
            <a:avLst/>
          </a:prstGeom>
          <a:noFill/>
          <a:ln w="19050">
            <a:solidFill>
              <a:srgbClr val="35333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22960" y="46634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1E1D23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БАЗИ ДАНИХ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5166360"/>
            <a:ext cx="992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таблиця PostgreSQL у 3-й нормальній формі з підтримкою цілісності через зовнішні ключі: 10 основних бізнес-таблиць (users, clients, trainers, schedules, bookings, subscriptions, payments, visits, client_anthropometry та ін.) і 11 сервісних (chat, notifications, push_subscriptions, email_codes, club_settings та ін.).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Дизайн інтерфейсу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інтерфейсу користувача OLIMP — темна тема, Montserrat, макет за золотим перетином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669280" cy="4114800"/>
          </a:xfrm>
          <a:prstGeom prst="roundRect">
            <a:avLst>
              <a:gd name="adj" fmla="val 3333"/>
            </a:avLst>
          </a:prstGeom>
          <a:solidFill>
            <a:srgbClr val="0E0D11"/>
          </a:solidFill>
          <a:ln w="19050">
            <a:solidFill>
              <a:srgbClr val="353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075688"/>
            <a:ext cx="2001073" cy="3895344"/>
          </a:xfrm>
          <a:prstGeom prst="roundRect">
            <a:avLst>
              <a:gd name="adj" fmla="val 4570"/>
            </a:avLst>
          </a:prstGeom>
          <a:solidFill>
            <a:srgbClr val="1E1D23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31720"/>
            <a:ext cx="1662745" cy="365760"/>
          </a:xfrm>
          <a:prstGeom prst="roundRect">
            <a:avLst>
              <a:gd name="adj" fmla="val 15000"/>
            </a:avLst>
          </a:prstGeom>
          <a:solidFill>
            <a:srgbClr val="26242C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898648"/>
            <a:ext cx="1662745" cy="365760"/>
          </a:xfrm>
          <a:prstGeom prst="roundRect">
            <a:avLst>
              <a:gd name="adj" fmla="val 15000"/>
            </a:avLst>
          </a:prstGeom>
          <a:solidFill>
            <a:srgbClr val="FF6424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3465576"/>
            <a:ext cx="1662745" cy="365760"/>
          </a:xfrm>
          <a:prstGeom prst="roundRect">
            <a:avLst>
              <a:gd name="adj" fmla="val 15000"/>
            </a:avLst>
          </a:prstGeom>
          <a:solidFill>
            <a:srgbClr val="26242C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4032504"/>
            <a:ext cx="1662745" cy="365760"/>
          </a:xfrm>
          <a:prstGeom prst="roundRect">
            <a:avLst>
              <a:gd name="adj" fmla="val 15000"/>
            </a:avLst>
          </a:prstGeom>
          <a:solidFill>
            <a:srgbClr val="26242C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4599432"/>
            <a:ext cx="1662745" cy="365760"/>
          </a:xfrm>
          <a:prstGeom prst="roundRect">
            <a:avLst>
              <a:gd name="adj" fmla="val 15000"/>
            </a:avLst>
          </a:prstGeom>
          <a:solidFill>
            <a:srgbClr val="26242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5166360"/>
            <a:ext cx="1662745" cy="365760"/>
          </a:xfrm>
          <a:prstGeom prst="roundRect">
            <a:avLst>
              <a:gd name="adj" fmla="val 15000"/>
            </a:avLst>
          </a:prstGeom>
          <a:solidFill>
            <a:srgbClr val="26242C"/>
          </a:solidFill>
          <a:ln/>
        </p:spPr>
      </p:sp>
      <p:sp>
        <p:nvSpPr>
          <p:cNvPr id="13" name="Shape 11"/>
          <p:cNvSpPr/>
          <p:nvPr/>
        </p:nvSpPr>
        <p:spPr>
          <a:xfrm>
            <a:off x="3080065" y="2075688"/>
            <a:ext cx="3302447" cy="502920"/>
          </a:xfrm>
          <a:prstGeom prst="roundRect">
            <a:avLst>
              <a:gd name="adj" fmla="val 14545"/>
            </a:avLst>
          </a:prstGeom>
          <a:solidFill>
            <a:srgbClr val="1E1D23"/>
          </a:solidFill>
          <a:ln/>
        </p:spPr>
      </p:sp>
      <p:sp>
        <p:nvSpPr>
          <p:cNvPr id="14" name="Shape 12"/>
          <p:cNvSpPr/>
          <p:nvPr/>
        </p:nvSpPr>
        <p:spPr>
          <a:xfrm>
            <a:off x="3080065" y="2743200"/>
            <a:ext cx="3302447" cy="932688"/>
          </a:xfrm>
          <a:prstGeom prst="roundRect">
            <a:avLst>
              <a:gd name="adj" fmla="val 7843"/>
            </a:avLst>
          </a:prstGeom>
          <a:solidFill>
            <a:srgbClr val="1E1D23"/>
          </a:solidFill>
          <a:ln/>
        </p:spPr>
      </p:sp>
      <p:sp>
        <p:nvSpPr>
          <p:cNvPr id="15" name="Shape 13"/>
          <p:cNvSpPr/>
          <p:nvPr/>
        </p:nvSpPr>
        <p:spPr>
          <a:xfrm>
            <a:off x="3281233" y="29992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BF17"/>
          </a:solidFill>
          <a:ln/>
        </p:spPr>
      </p:sp>
      <p:sp>
        <p:nvSpPr>
          <p:cNvPr id="16" name="Shape 14"/>
          <p:cNvSpPr/>
          <p:nvPr/>
        </p:nvSpPr>
        <p:spPr>
          <a:xfrm>
            <a:off x="3080065" y="3822192"/>
            <a:ext cx="3302447" cy="932688"/>
          </a:xfrm>
          <a:prstGeom prst="roundRect">
            <a:avLst>
              <a:gd name="adj" fmla="val 7843"/>
            </a:avLst>
          </a:prstGeom>
          <a:solidFill>
            <a:srgbClr val="1E1D23"/>
          </a:solidFill>
          <a:ln/>
        </p:spPr>
      </p:sp>
      <p:sp>
        <p:nvSpPr>
          <p:cNvPr id="17" name="Shape 15"/>
          <p:cNvSpPr/>
          <p:nvPr/>
        </p:nvSpPr>
        <p:spPr>
          <a:xfrm>
            <a:off x="3281233" y="40782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6424"/>
          </a:solidFill>
          <a:ln/>
        </p:spPr>
      </p:sp>
      <p:sp>
        <p:nvSpPr>
          <p:cNvPr id="18" name="Shape 16"/>
          <p:cNvSpPr/>
          <p:nvPr/>
        </p:nvSpPr>
        <p:spPr>
          <a:xfrm>
            <a:off x="3080065" y="4901184"/>
            <a:ext cx="3302447" cy="932688"/>
          </a:xfrm>
          <a:prstGeom prst="roundRect">
            <a:avLst>
              <a:gd name="adj" fmla="val 7843"/>
            </a:avLst>
          </a:prstGeom>
          <a:solidFill>
            <a:srgbClr val="1E1D23"/>
          </a:solidFill>
          <a:ln/>
        </p:spPr>
      </p:sp>
      <p:sp>
        <p:nvSpPr>
          <p:cNvPr id="19" name="Shape 17"/>
          <p:cNvSpPr/>
          <p:nvPr/>
        </p:nvSpPr>
        <p:spPr>
          <a:xfrm>
            <a:off x="3281233" y="515721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353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ДИЗАЙН-ТОКЕНИ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23500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424"/>
          </a:solidFill>
          <a:ln w="12700">
            <a:solidFill>
              <a:srgbClr val="3533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944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#FF6424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09560" y="23500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BF17"/>
          </a:solidFill>
          <a:ln w="12700">
            <a:solidFill>
              <a:srgbClr val="353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944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#FFBF17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69680" y="23500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E0D11"/>
          </a:solidFill>
          <a:ln w="12700">
            <a:solidFill>
              <a:srgbClr val="3533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944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#141317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Шрифт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66760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Montserrat (текст) · Stalinist One (логотип)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49440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Макет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66760" y="3813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золотий перетин — sidebar 38.2% / контент 61.8%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0" y="43159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Навігація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66760" y="4315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Міллера 7±2 — до 7 пунктів меню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4818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Екрани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66760" y="48188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вхід, гостьова, кабінети клієнта/тренера, панель менеджера, чат, push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49440" y="5321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Адаптивність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66760" y="53218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брейкпоінти 420 / 720 / 899 / 900 px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49440" y="5824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Доступність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5824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4.5:1, керування з клавіатури, ARIA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Технології розробки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Ітеративний цикл + Scrum, спринти 2 тижні · SemVer 1.0.0 · 33 SQL-міграції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322320" cy="1417320"/>
          </a:xfrm>
          <a:prstGeom prst="roundRect">
            <a:avLst>
              <a:gd name="adj" fmla="val 7742"/>
            </a:avLst>
          </a:prstGeom>
          <a:solidFill>
            <a:srgbClr val="1E1D23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2402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642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48840"/>
            <a:ext cx="272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624328"/>
            <a:ext cx="2919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  ·  Express 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9600" y="2057400"/>
            <a:ext cx="3322320" cy="1417320"/>
          </a:xfrm>
          <a:prstGeom prst="roundRect">
            <a:avLst>
              <a:gd name="adj" fmla="val 7742"/>
            </a:avLst>
          </a:prstGeom>
          <a:solidFill>
            <a:srgbClr val="1E1D23"/>
          </a:solidFill>
          <a:ln/>
        </p:spPr>
      </p:sp>
      <p:sp>
        <p:nvSpPr>
          <p:cNvPr id="10" name="Shape 8"/>
          <p:cNvSpPr/>
          <p:nvPr/>
        </p:nvSpPr>
        <p:spPr>
          <a:xfrm>
            <a:off x="4620768" y="22402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6424"/>
          </a:solidFill>
          <a:ln/>
        </p:spPr>
      </p:sp>
      <p:sp>
        <p:nvSpPr>
          <p:cNvPr id="11" name="Text 9"/>
          <p:cNvSpPr/>
          <p:nvPr/>
        </p:nvSpPr>
        <p:spPr>
          <a:xfrm>
            <a:off x="4831080" y="2148840"/>
            <a:ext cx="272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0768" y="2624328"/>
            <a:ext cx="2919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 ·  pg_dump backup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6240" y="2057400"/>
            <a:ext cx="3322320" cy="1417320"/>
          </a:xfrm>
          <a:prstGeom prst="roundRect">
            <a:avLst>
              <a:gd name="adj" fmla="val 7742"/>
            </a:avLst>
          </a:prstGeom>
          <a:solidFill>
            <a:srgbClr val="1E1D2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17408" y="22402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6424"/>
          </a:solidFill>
          <a:ln/>
        </p:spPr>
      </p:sp>
      <p:sp>
        <p:nvSpPr>
          <p:cNvPr id="15" name="Text 13"/>
          <p:cNvSpPr/>
          <p:nvPr/>
        </p:nvSpPr>
        <p:spPr>
          <a:xfrm>
            <a:off x="8427720" y="2148840"/>
            <a:ext cx="272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17408" y="2624328"/>
            <a:ext cx="2919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PWA  ·  Electron (десктоп)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749040"/>
            <a:ext cx="3322320" cy="1417320"/>
          </a:xfrm>
          <a:prstGeom prst="roundRect">
            <a:avLst>
              <a:gd name="adj" fmla="val 7742"/>
            </a:avLst>
          </a:prstGeom>
          <a:solidFill>
            <a:srgbClr val="1E1D2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3931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BF17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840480"/>
            <a:ext cx="272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4315968"/>
            <a:ext cx="2919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·  Caddy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19600" y="3749040"/>
            <a:ext cx="3322320" cy="1417320"/>
          </a:xfrm>
          <a:prstGeom prst="roundRect">
            <a:avLst>
              <a:gd name="adj" fmla="val 7742"/>
            </a:avLst>
          </a:prstGeom>
          <a:solidFill>
            <a:srgbClr val="1E1D23"/>
          </a:solidFill>
          <a:ln/>
        </p:spPr>
      </p:sp>
      <p:sp>
        <p:nvSpPr>
          <p:cNvPr id="22" name="Shape 20"/>
          <p:cNvSpPr/>
          <p:nvPr/>
        </p:nvSpPr>
        <p:spPr>
          <a:xfrm>
            <a:off x="4620768" y="3931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BF17"/>
          </a:solidFill>
          <a:ln/>
        </p:spPr>
      </p:sp>
      <p:sp>
        <p:nvSpPr>
          <p:cNvPr id="23" name="Text 21"/>
          <p:cNvSpPr/>
          <p:nvPr/>
        </p:nvSpPr>
        <p:spPr>
          <a:xfrm>
            <a:off x="4831080" y="3840480"/>
            <a:ext cx="272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20768" y="4315968"/>
            <a:ext cx="2919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qwen3:8b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6240" y="3749040"/>
            <a:ext cx="3322320" cy="1417320"/>
          </a:xfrm>
          <a:prstGeom prst="roundRect">
            <a:avLst>
              <a:gd name="adj" fmla="val 7742"/>
            </a:avLst>
          </a:prstGeom>
          <a:solidFill>
            <a:srgbClr val="1E1D23"/>
          </a:solidFill>
          <a:ln/>
        </p:spPr>
      </p:sp>
      <p:sp>
        <p:nvSpPr>
          <p:cNvPr id="26" name="Shape 24"/>
          <p:cNvSpPr/>
          <p:nvPr/>
        </p:nvSpPr>
        <p:spPr>
          <a:xfrm>
            <a:off x="8217408" y="3931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BF17"/>
          </a:solidFill>
          <a:ln/>
        </p:spPr>
      </p:sp>
      <p:sp>
        <p:nvSpPr>
          <p:cNvPr id="27" name="Text 25"/>
          <p:cNvSpPr/>
          <p:nvPr/>
        </p:nvSpPr>
        <p:spPr>
          <a:xfrm>
            <a:off x="8427720" y="3840480"/>
            <a:ext cx="272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команди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17408" y="4315968"/>
            <a:ext cx="2919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 ·  Jira  ·  VS Code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534924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26242C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To Do → In Progress → In Review → Testing → Done   ·   Git-гілки: main / beta / feature/*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Тестування системи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АВТОМАТИЗОВАНІ UNIT-ТЕСТИ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074920" cy="658368"/>
          </a:xfrm>
          <a:prstGeom prst="roundRect">
            <a:avLst>
              <a:gd name="adj" fmla="val 13889"/>
            </a:avLst>
          </a:prstGeom>
          <a:solidFill>
            <a:srgbClr val="1E1D2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84248"/>
            <a:ext cx="256032" cy="256032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56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booking-logic.test.js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112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слотів бронювання та перевірка перетинів часу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5074920" cy="658368"/>
          </a:xfrm>
          <a:prstGeom prst="roundRect">
            <a:avLst>
              <a:gd name="adj" fmla="val 13889"/>
            </a:avLst>
          </a:prstGeom>
          <a:solidFill>
            <a:srgbClr val="1E1D23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761488"/>
            <a:ext cx="256032" cy="256032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otp.test.js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й валідація одноразових кодів (2FA)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5074920" cy="658368"/>
          </a:xfrm>
          <a:prstGeom prst="roundRect">
            <a:avLst>
              <a:gd name="adj" fmla="val 13889"/>
            </a:avLst>
          </a:prstGeom>
          <a:solidFill>
            <a:srgbClr val="1E1D2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3538728"/>
            <a:ext cx="256032" cy="256032"/>
          </a:xfrm>
          <a:prstGeom prst="ellipse">
            <a:avLst/>
          </a:prstGeom>
          <a:solidFill>
            <a:srgbClr val="FFBF17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410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utils.test.js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36667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escapeHtml — захист від XSS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--test  ·  каталог /tests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ПРИЙМАЛЬНЕ ТЕСТУВАННЯ (ТЗ §6.1)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810512"/>
            <a:ext cx="201168" cy="201168"/>
          </a:xfrm>
          <a:prstGeom prst="roundRect">
            <a:avLst>
              <a:gd name="adj" fmla="val 22727"/>
            </a:avLst>
          </a:prstGeom>
          <a:ln w="19050">
            <a:solidFill>
              <a:srgbClr val="FF6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783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Автентифікація та 2FA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2212848"/>
            <a:ext cx="201168" cy="201168"/>
          </a:xfrm>
          <a:prstGeom prst="roundRect">
            <a:avLst>
              <a:gd name="adj" fmla="val 22727"/>
            </a:avLst>
          </a:prstGeom>
          <a:ln w="19050">
            <a:solidFill>
              <a:srgbClr val="FF64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18541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Розмежування прав доступу (RBAC)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2615184"/>
            <a:ext cx="201168" cy="201168"/>
          </a:xfrm>
          <a:prstGeom prst="roundRect">
            <a:avLst>
              <a:gd name="adj" fmla="val 22727"/>
            </a:avLst>
          </a:prstGeom>
          <a:ln w="19050">
            <a:solidFill>
              <a:srgbClr val="FF64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5877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Розклад, ліміти бронювання, тарифи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3017520"/>
            <a:ext cx="201168" cy="201168"/>
          </a:xfrm>
          <a:prstGeom prst="roundRect">
            <a:avLst>
              <a:gd name="adj" fmla="val 22727"/>
            </a:avLst>
          </a:prstGeom>
          <a:ln w="19050">
            <a:solidFill>
              <a:srgbClr val="FF6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9900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Облік відвідувань і абонементів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3419856"/>
            <a:ext cx="201168" cy="201168"/>
          </a:xfrm>
          <a:prstGeom prst="roundRect">
            <a:avLst>
              <a:gd name="adj" fmla="val 22727"/>
            </a:avLst>
          </a:prstGeom>
          <a:ln w="19050">
            <a:solidFill>
              <a:srgbClr val="FF64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3924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Чат, push-сповіщення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822192"/>
            <a:ext cx="201168" cy="201168"/>
          </a:xfrm>
          <a:prstGeom prst="roundRect">
            <a:avLst>
              <a:gd name="adj" fmla="val 22727"/>
            </a:avLst>
          </a:prstGeom>
          <a:ln w="19050">
            <a:solidFill>
              <a:srgbClr val="FF64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7947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Резервне копіювання та відновлення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4224528"/>
            <a:ext cx="201168" cy="201168"/>
          </a:xfrm>
          <a:prstGeom prst="roundRect">
            <a:avLst>
              <a:gd name="adj" fmla="val 22727"/>
            </a:avLst>
          </a:prstGeom>
          <a:ln w="19050">
            <a:solidFill>
              <a:srgbClr val="FF64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197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Продуктивність і адаптивність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" y="46634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26242C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Критичний дефект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513892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втрата чи пошкодження даних, помилки в абонементах, несанкціонований доступ, відмова базового функціоналу.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FF6424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Висновки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Заплановану систему реалізовано у повному обсязі: 7-етапний план, 3 версії релізу (v0.1 / v0.2 / v1.0), 38 задач, 8 контрольних точок на діаграмі Ганта.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E1D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БД у 3НФ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23317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E1D2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модулів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3317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E1D2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 користувачів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23317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E1D23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05256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SQL-міграції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10515600" cy="2057400"/>
          </a:xfrm>
          <a:prstGeom prst="roundRect">
            <a:avLst>
              <a:gd name="adj" fmla="val 5333"/>
            </a:avLst>
          </a:prstGeom>
          <a:solidFill>
            <a:srgbClr val="26242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ПОСТАВЛЕНО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PWA-клієнт + Node.js/Express API + PostgreSQL 15 у Docker Compose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Electron-збірка для настільного застосунку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010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Локальний AI-асистент на базі Ollama (qwen3:8b)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5010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UI за фірмовим стандартом OLIMP для 5 ролей (Figma)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" y="54498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Автоматичне резервне копіювання й відновлення БД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00232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2026-07-20T09:42:19Z</dcterms:created>
  <dcterms:modified xsi:type="dcterms:W3CDTF">2026-07-20T09:42:19Z</dcterms:modified>
</cp:coreProperties>
</file>